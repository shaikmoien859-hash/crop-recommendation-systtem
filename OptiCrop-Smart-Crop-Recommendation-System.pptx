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embeddedFontLst>
    <p:embeddedFont>
      <p:font typeface="Arimo" panose="020B0604020202020204" charset="0"/>
      <p:regular r:id="rId8"/>
    </p:embeddedFont>
    <p:embeddedFont>
      <p:font typeface="Arimo Bold" panose="020B0604020202020204" charset="0"/>
      <p:regular r:id="rId9"/>
    </p:embeddedFont>
    <p:embeddedFont>
      <p:font typeface="Century Gothic" panose="020B0502020202020204" pitchFamily="34" charset="0"/>
      <p:regular r:id="rId10"/>
      <p:bold r:id="rId11"/>
      <p:italic r:id="rId12"/>
      <p:boldItalic r:id="rId13"/>
    </p:embeddedFont>
    <p:embeddedFont>
      <p:font typeface="Outfit ExtraBold" panose="020B0604020202020204" charset="0"/>
      <p:regular r:id="rId14"/>
    </p:embeddedFont>
    <p:embeddedFont>
      <p:font typeface="Wingdings 3" panose="05040102010807070707" pitchFamily="18" charset="2"/>
      <p:regular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4204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085850"/>
            <a:ext cx="6619244" cy="2497186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64746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42444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2146300"/>
            <a:ext cx="6619243" cy="143673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15875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485" y="1545432"/>
            <a:ext cx="3297254" cy="3146822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0870" y="1542069"/>
            <a:ext cx="3297256" cy="315018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016477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5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485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0872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0872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52621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15918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19028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1085850"/>
            <a:ext cx="2550798" cy="10858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8462" y="1085850"/>
            <a:ext cx="3896998" cy="3429000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2346961"/>
            <a:ext cx="2550797" cy="2171699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28128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430" y="1390644"/>
            <a:ext cx="3819680" cy="1181106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2160" y="857250"/>
            <a:ext cx="2400300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3813734" cy="1028700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48123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3600440"/>
            <a:ext cx="6619243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7305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7" y="4025494"/>
            <a:ext cx="6619242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13040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085850"/>
            <a:ext cx="6619244" cy="14859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6619244" cy="177165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66209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101" y="1085850"/>
            <a:ext cx="5999486" cy="1742531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7800" y="2828380"/>
            <a:ext cx="5459737" cy="256631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262993"/>
            <a:ext cx="6619244" cy="125730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73721" y="728440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7868" y="1960341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0813065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343151"/>
            <a:ext cx="6619245" cy="123988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81230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710" y="1485900"/>
            <a:ext cx="221015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347" y="2000250"/>
            <a:ext cx="2195513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2745" y="1485900"/>
            <a:ext cx="220218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4829" y="2000250"/>
            <a:ext cx="2210096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1485900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3525" y="2000250"/>
            <a:ext cx="2199085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87100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347" y="3188212"/>
            <a:ext cx="220503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347" y="1657350"/>
            <a:ext cx="2205038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347" y="3620409"/>
            <a:ext cx="220503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032" y="3188212"/>
            <a:ext cx="219789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031" y="1657350"/>
            <a:ext cx="2197894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016" y="3620408"/>
            <a:ext cx="2200805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3188212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3525" y="1657350"/>
            <a:ext cx="2199085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3432" y="3620406"/>
            <a:ext cx="220199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748404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82937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8159" y="322660"/>
            <a:ext cx="1314451" cy="4369594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348" y="665561"/>
            <a:ext cx="5567362" cy="40266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7236602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9591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4"/>
            <a:ext cx="3027759" cy="31412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1"/>
            <a:ext cx="1141809" cy="177409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60" y="1"/>
            <a:ext cx="1202540" cy="85605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4572000"/>
            <a:ext cx="745301" cy="5715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584" y="339538"/>
            <a:ext cx="7053542" cy="10503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4" y="1539689"/>
            <a:ext cx="6709906" cy="3146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616730" y="1343026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713680" y="2418973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2263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315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5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35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187950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393576"/>
            <a:ext cx="4722763" cy="816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OptiCrop – Smart Crop Recommendation System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3925119" y="1391022"/>
            <a:ext cx="4722763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    OptiCrop combines machine learning with agronomy to recommend optimal crops     for a given field. The system ingests soil nutrients and environmental     parameters, analyzes them with a trained model, and returns ranked crop     suggestions plus actionable parameter-level guidance.   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3925119" y="2329904"/>
            <a:ext cx="2301106" cy="1350615"/>
          </a:xfrm>
          <a:prstGeom prst="roundRect">
            <a:avLst>
              <a:gd name="adj" fmla="val 4064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60552" y="2465338"/>
            <a:ext cx="2030239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Problem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060552" y="2741712"/>
            <a:ext cx="2030239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Farmers often choose crops by tradition rather than data, risking low yields due to variable soil and climate.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346701" y="2329904"/>
            <a:ext cx="2301180" cy="1350615"/>
          </a:xfrm>
          <a:prstGeom prst="roundRect">
            <a:avLst>
              <a:gd name="adj" fmla="val 4064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82135" y="2465338"/>
            <a:ext cx="2030313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Objective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82135" y="2741712"/>
            <a:ext cx="2030313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Predict the most suitable crops using a Random Forest model on soil (N,P,K,pH) and environmental inputs (temp, humidity, rainfall).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925119" y="3800996"/>
            <a:ext cx="4722763" cy="948928"/>
          </a:xfrm>
          <a:prstGeom prst="roundRect">
            <a:avLst>
              <a:gd name="adj" fmla="val 5784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60552" y="3936429"/>
            <a:ext cx="445189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Impact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060552" y="4212803"/>
            <a:ext cx="4451896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Improve yields, reduce risk, and support sustainable, data-driven farming decisions.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System Architecture &amp; Working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41" y="682154"/>
            <a:ext cx="7890644" cy="29609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02209" y="2924295"/>
            <a:ext cx="119014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Recommend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502299" y="2809662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010540" y="2924295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Scale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518781" y="2924295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Validate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94415" y="2809662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Farmer Inputs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6119" y="3682901"/>
            <a:ext cx="8151763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    The pipeline validates inputs, scales features for model stability, and     runs a Random Forest ensemble. Outputs include the top-3 ranked crops,     a confidence score for each suggestion, parameter-wise improvement tips,     and visual comparisons on a radar chart.   </a:t>
            </a:r>
            <a:endParaRPr lang="en-US" sz="5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845" y="3835071"/>
            <a:ext cx="2183777" cy="123745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663232" y="4534570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Top 3 Recommendations</a:t>
            </a:r>
            <a:endParaRPr lang="en-US" sz="650" dirty="0"/>
          </a:p>
        </p:txBody>
      </p:sp>
      <p:sp>
        <p:nvSpPr>
          <p:cNvPr id="13" name="Text 8"/>
          <p:cNvSpPr/>
          <p:nvPr/>
        </p:nvSpPr>
        <p:spPr>
          <a:xfrm>
            <a:off x="4663232" y="4680719"/>
            <a:ext cx="398941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Presents ranked crops with confidence percentages and optional alternates.</a:t>
            </a:r>
            <a:endParaRPr lang="en-US" sz="550" dirty="0"/>
          </a:p>
        </p:txBody>
      </p:sp>
      <p:sp>
        <p:nvSpPr>
          <p:cNvPr id="15" name="Text 9"/>
          <p:cNvSpPr/>
          <p:nvPr/>
        </p:nvSpPr>
        <p:spPr>
          <a:xfrm>
            <a:off x="4663232" y="5058073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650" dirty="0"/>
          </a:p>
        </p:txBody>
      </p:sp>
      <p:sp>
        <p:nvSpPr>
          <p:cNvPr id="19" name="Text 12"/>
          <p:cNvSpPr/>
          <p:nvPr/>
        </p:nvSpPr>
        <p:spPr>
          <a:xfrm>
            <a:off x="4663232" y="5727725"/>
            <a:ext cx="398941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725"/>
            <a:ext cx="8151763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Technology Stack &amp; Key Features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926678"/>
            <a:ext cx="8151763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    A lightweight, reproducible stack focused on rapid prototyping and responsive     delivery. Backend ML is Python-based; frontend delivers interactive charts     and session history for repeatable decisions.   </a:t>
            </a:r>
            <a:endParaRPr lang="en-US" sz="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52624"/>
            <a:ext cx="429741" cy="4297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38374" y="1352624"/>
            <a:ext cx="1411263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Python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38374" y="1583085"/>
            <a:ext cx="1411263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Model training, preprocessing, and APIs.</a:t>
            </a:r>
            <a:endParaRPr lang="en-US" sz="8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2151" y="1352624"/>
            <a:ext cx="429741" cy="42974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104406" y="1352624"/>
            <a:ext cx="141133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Flask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3104406" y="1583085"/>
            <a:ext cx="1411337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Lightweight REST API for predictions and session management.</a:t>
            </a:r>
            <a:endParaRPr lang="en-US" sz="8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8257" y="1352624"/>
            <a:ext cx="429741" cy="42974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170512" y="1352624"/>
            <a:ext cx="1411263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5170512" y="1583085"/>
            <a:ext cx="1411263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Random Forest implementation, model evaluation tools.</a:t>
            </a:r>
            <a:endParaRPr lang="en-US" sz="8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4289" y="1352624"/>
            <a:ext cx="429741" cy="42974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236544" y="1352624"/>
            <a:ext cx="141133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Pandas &amp; NumPy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7236544" y="1583085"/>
            <a:ext cx="1411337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Data wrangling and numeric processing for feature pipelines.</a:t>
            </a:r>
            <a:endParaRPr lang="en-US" sz="8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119" y="2250207"/>
            <a:ext cx="429741" cy="42974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38374" y="2250207"/>
            <a:ext cx="1411263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Bootstrap 5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1038374" y="2480667"/>
            <a:ext cx="1411263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Responsive UI components for field devices and desktop.</a:t>
            </a:r>
            <a:endParaRPr lang="en-US" sz="8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62151" y="2250207"/>
            <a:ext cx="429741" cy="429741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3104406" y="2250207"/>
            <a:ext cx="141133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Chart.js</a:t>
            </a:r>
            <a:endParaRPr lang="en-US" sz="1100" dirty="0"/>
          </a:p>
        </p:txBody>
      </p:sp>
      <p:sp>
        <p:nvSpPr>
          <p:cNvPr id="21" name="Text 13"/>
          <p:cNvSpPr/>
          <p:nvPr/>
        </p:nvSpPr>
        <p:spPr>
          <a:xfrm>
            <a:off x="3104406" y="2480667"/>
            <a:ext cx="1411337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Interactive radar and bar charts for suitability and comparisons.</a:t>
            </a:r>
            <a:endParaRPr lang="en-US" sz="850" dirty="0"/>
          </a:p>
        </p:txBody>
      </p:sp>
      <p:sp>
        <p:nvSpPr>
          <p:cNvPr id="22" name="Shape 14"/>
          <p:cNvSpPr/>
          <p:nvPr/>
        </p:nvSpPr>
        <p:spPr>
          <a:xfrm>
            <a:off x="496119" y="3097188"/>
            <a:ext cx="8151763" cy="14288"/>
          </a:xfrm>
          <a:prstGeom prst="roundRect">
            <a:avLst>
              <a:gd name="adj" fmla="val 59998"/>
            </a:avLst>
          </a:prstGeom>
          <a:solidFill>
            <a:srgbClr val="2A2742">
              <a:alpha val="50000"/>
            </a:srgbClr>
          </a:solidFill>
          <a:ln/>
        </p:spPr>
      </p:sp>
      <p:sp>
        <p:nvSpPr>
          <p:cNvPr id="23" name="Shape 15"/>
          <p:cNvSpPr/>
          <p:nvPr/>
        </p:nvSpPr>
        <p:spPr>
          <a:xfrm>
            <a:off x="496119" y="3240881"/>
            <a:ext cx="2657252" cy="790649"/>
          </a:xfrm>
          <a:prstGeom prst="roundRect">
            <a:avLst>
              <a:gd name="adj" fmla="val 6001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613842" y="3358604"/>
            <a:ext cx="2421806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Supports 43+ Crops</a:t>
            </a:r>
            <a:endParaRPr lang="en-US" sz="1100" dirty="0"/>
          </a:p>
        </p:txBody>
      </p:sp>
      <p:sp>
        <p:nvSpPr>
          <p:cNvPr id="25" name="Text 17"/>
          <p:cNvSpPr/>
          <p:nvPr/>
        </p:nvSpPr>
        <p:spPr>
          <a:xfrm>
            <a:off x="613842" y="3589065"/>
            <a:ext cx="2421806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Trained on diverse regional datasets for generalizability.</a:t>
            </a:r>
            <a:endParaRPr lang="en-US" sz="850" dirty="0"/>
          </a:p>
        </p:txBody>
      </p:sp>
      <p:sp>
        <p:nvSpPr>
          <p:cNvPr id="26" name="Shape 18"/>
          <p:cNvSpPr/>
          <p:nvPr/>
        </p:nvSpPr>
        <p:spPr>
          <a:xfrm>
            <a:off x="3243337" y="3240881"/>
            <a:ext cx="2657252" cy="790649"/>
          </a:xfrm>
          <a:prstGeom prst="roundRect">
            <a:avLst>
              <a:gd name="adj" fmla="val 6001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3361060" y="3358604"/>
            <a:ext cx="2421806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Real-time Recommendations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3361060" y="3589065"/>
            <a:ext cx="2421806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Sub-100 ms inference on typical cloud CPU instances.</a:t>
            </a:r>
            <a:endParaRPr lang="en-US" sz="850" dirty="0"/>
          </a:p>
        </p:txBody>
      </p:sp>
      <p:sp>
        <p:nvSpPr>
          <p:cNvPr id="29" name="Shape 21"/>
          <p:cNvSpPr/>
          <p:nvPr/>
        </p:nvSpPr>
        <p:spPr>
          <a:xfrm>
            <a:off x="5990555" y="3240881"/>
            <a:ext cx="2657326" cy="790649"/>
          </a:xfrm>
          <a:prstGeom prst="roundRect">
            <a:avLst>
              <a:gd name="adj" fmla="val 6001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6108278" y="3358604"/>
            <a:ext cx="2421880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Interactive Dashboard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6108278" y="3589065"/>
            <a:ext cx="2421880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Top-3 results, radar comparison, parameter suggestions, and session history.</a:t>
            </a:r>
            <a:endParaRPr lang="en-US" sz="850" dirty="0"/>
          </a:p>
        </p:txBody>
      </p:sp>
      <p:sp>
        <p:nvSpPr>
          <p:cNvPr id="32" name="Shape 24"/>
          <p:cNvSpPr/>
          <p:nvPr/>
        </p:nvSpPr>
        <p:spPr>
          <a:xfrm>
            <a:off x="496119" y="4121497"/>
            <a:ext cx="8151763" cy="628278"/>
          </a:xfrm>
          <a:prstGeom prst="roundRect">
            <a:avLst>
              <a:gd name="adj" fmla="val 7552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613842" y="4239220"/>
            <a:ext cx="791631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Responsive &amp; Accessible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613842" y="4469681"/>
            <a:ext cx="791631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Designed for low-bandwidth field use and mobile screens.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8997"/>
            <a:ext cx="8151763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Results &amp; Performance — Sample Prediction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496119" y="2060600"/>
            <a:ext cx="3957042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        Model metrics: </a:t>
            </a:r>
            <a:r>
              <a:rPr lang="en-US" sz="7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Accuracy: 92%</a:t>
            </a:r>
            <a:r>
              <a:rPr lang="en-US" sz="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 Average inference time: </a:t>
            </a:r>
            <a:r>
              <a:rPr lang="en-US" sz="7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&lt;100 ms</a:t>
            </a:r>
            <a:r>
              <a:rPr lang="en-US" sz="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         Parameter suggestions include small pH adjustment and drainage guidance where needed.       </a:t>
            </a:r>
            <a:endParaRPr lang="en-US" sz="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5602" y="909340"/>
            <a:ext cx="3957042" cy="22423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95602" y="3227040"/>
            <a:ext cx="3957042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        Radar visualization highlights relative suitability per parameter. Use the dashboard to toggle crops and view parameter-wise remediation tips (fertilizer, pH correction, irrigation).       </a:t>
            </a:r>
            <a:endParaRPr lang="en-US" sz="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625825"/>
            <a:ext cx="1987674" cy="108860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31466" y="3698900"/>
            <a:ext cx="116904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07814" y="4015606"/>
            <a:ext cx="1764283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Input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607814" y="4208041"/>
            <a:ext cx="1764283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N=80 · P=40 · K=40 · Temp=25°C · Humidity=80% · pH=6.0 · Rainfall=175mm</a:t>
            </a:r>
            <a:endParaRPr lang="en-US" sz="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50765" y="3625825"/>
            <a:ext cx="1987748" cy="108860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486187" y="3698900"/>
            <a:ext cx="116904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2662461" y="4015606"/>
            <a:ext cx="176435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Output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2662461" y="4208041"/>
            <a:ext cx="1764357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Recommended Crop: </a:t>
            </a:r>
            <a:r>
              <a:rPr lang="en-US" sz="7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Paddy</a:t>
            </a:r>
            <a:r>
              <a:rPr lang="en-US" sz="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· Confidence: </a:t>
            </a:r>
            <a:r>
              <a:rPr lang="en-US" sz="7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96%</a:t>
            </a:r>
            <a:endParaRPr lang="en-US" sz="7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5486" y="3625825"/>
            <a:ext cx="1987674" cy="108860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540834" y="3698900"/>
            <a:ext cx="116904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4717182" y="4015606"/>
            <a:ext cx="1764283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Top 3 Recommendations</a:t>
            </a:r>
            <a:endParaRPr lang="en-US" sz="950" dirty="0"/>
          </a:p>
        </p:txBody>
      </p:sp>
      <p:sp>
        <p:nvSpPr>
          <p:cNvPr id="17" name="Text 11"/>
          <p:cNvSpPr/>
          <p:nvPr/>
        </p:nvSpPr>
        <p:spPr>
          <a:xfrm>
            <a:off x="4717182" y="4208041"/>
            <a:ext cx="1764283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1) Paddy — 96% · 2) Sugarcane — 88% · 3) Maize — 72%</a:t>
            </a:r>
            <a:endParaRPr lang="en-US" sz="7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60133" y="3625825"/>
            <a:ext cx="1987748" cy="108860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595555" y="3698900"/>
            <a:ext cx="116904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6771829" y="4015606"/>
            <a:ext cx="176435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Match Quality</a:t>
            </a:r>
            <a:endParaRPr lang="en-US" sz="950" dirty="0"/>
          </a:p>
        </p:txBody>
      </p:sp>
      <p:sp>
        <p:nvSpPr>
          <p:cNvPr id="21" name="Text 14"/>
          <p:cNvSpPr/>
          <p:nvPr/>
        </p:nvSpPr>
        <p:spPr>
          <a:xfrm>
            <a:off x="6771829" y="4208041"/>
            <a:ext cx="1764357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High: soil nutrients and rainfall align strongly with paddy suitability.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5946"/>
            <a:ext cx="8151763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Conclusion &amp; Future Scope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938635"/>
            <a:ext cx="3095327" cy="175401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871838" y="1075134"/>
            <a:ext cx="56480" cy="56480"/>
          </a:xfrm>
          <a:prstGeom prst="ellipse">
            <a:avLst/>
          </a:prstGeom>
          <a:solidFill>
            <a:srgbClr val="5E4CE6"/>
          </a:solidFill>
          <a:ln/>
        </p:spPr>
      </p:sp>
      <p:sp>
        <p:nvSpPr>
          <p:cNvPr id="5" name="Text 2"/>
          <p:cNvSpPr/>
          <p:nvPr/>
        </p:nvSpPr>
        <p:spPr>
          <a:xfrm>
            <a:off x="4018285" y="1015082"/>
            <a:ext cx="4634359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018285" y="1281559"/>
            <a:ext cx="4634359" cy="71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720" indent="-17272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AI enables data-driven crop selection, improving yield and lowering risk.</a:t>
            </a:r>
            <a:endParaRPr lang="en-US" sz="850" dirty="0"/>
          </a:p>
          <a:p>
            <a:pPr marL="172720" indent="-17272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OptiCrop provides actionable recommendations, confidence scores, and parameter-level guidance.</a:t>
            </a:r>
            <a:endParaRPr lang="en-US" sz="850" dirty="0"/>
          </a:p>
          <a:p>
            <a:pPr marL="172720" indent="-17272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Designed for real-world field conditions with a responsive dashboard.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871838" y="2234059"/>
            <a:ext cx="56480" cy="56480"/>
          </a:xfrm>
          <a:prstGeom prst="ellipse">
            <a:avLst/>
          </a:prstGeom>
          <a:solidFill>
            <a:srgbClr val="5E4CE6"/>
          </a:solidFill>
          <a:ln/>
        </p:spPr>
      </p:sp>
      <p:sp>
        <p:nvSpPr>
          <p:cNvPr id="8" name="Text 5"/>
          <p:cNvSpPr/>
          <p:nvPr/>
        </p:nvSpPr>
        <p:spPr>
          <a:xfrm>
            <a:off x="4018285" y="2174007"/>
            <a:ext cx="4634359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Future Enhancements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018285" y="2440484"/>
            <a:ext cx="4634359" cy="743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720" indent="-17272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Integrate live Weather API and regional forecasts.</a:t>
            </a:r>
            <a:endParaRPr lang="en-US" sz="850" dirty="0"/>
          </a:p>
          <a:p>
            <a:pPr marL="172720" indent="-17272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Support soil-sensor streaming for automated inputs.</a:t>
            </a:r>
            <a:endParaRPr lang="en-US" sz="850" dirty="0"/>
          </a:p>
          <a:p>
            <a:pPr marL="172720" indent="-17272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Develop mobile app and multi-language UI for wider adoption.</a:t>
            </a:r>
            <a:endParaRPr lang="en-US" sz="850" dirty="0"/>
          </a:p>
          <a:p>
            <a:pPr marL="172720" indent="-17272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Add crop price forecasting, pest/disease detection, and irrigation scheduling modules.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871838" y="3285604"/>
            <a:ext cx="4780806" cy="543074"/>
          </a:xfrm>
          <a:prstGeom prst="roundRect">
            <a:avLst>
              <a:gd name="adj" fmla="val 8737"/>
            </a:avLst>
          </a:prstGeom>
          <a:solidFill>
            <a:srgbClr val="D7D2F9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4799" y="3446934"/>
            <a:ext cx="141163" cy="1129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38923" y="3394770"/>
            <a:ext cx="4300761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        Next steps: pilot deployments with local extension services and feedback-driven model retraining to improve regional accuracy.       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3871838" y="3958084"/>
            <a:ext cx="4780806" cy="14288"/>
          </a:xfrm>
          <a:prstGeom prst="roundRect">
            <a:avLst>
              <a:gd name="adj" fmla="val 59998"/>
            </a:avLst>
          </a:prstGeom>
          <a:solidFill>
            <a:srgbClr val="2A2742">
              <a:alpha val="50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3871838" y="4101778"/>
            <a:ext cx="4780806" cy="282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Thank You</a:t>
            </a:r>
            <a:endParaRPr lang="en-US" sz="1750" dirty="0"/>
          </a:p>
        </p:txBody>
      </p:sp>
      <p:sp>
        <p:nvSpPr>
          <p:cNvPr id="15" name="Text 11"/>
          <p:cNvSpPr/>
          <p:nvPr/>
        </p:nvSpPr>
        <p:spPr>
          <a:xfrm>
            <a:off x="3643238" y="4474146"/>
            <a:ext cx="5238006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</TotalTime>
  <Words>585</Words>
  <Application>Microsoft Office PowerPoint</Application>
  <PresentationFormat>On-screen Show (16:9)</PresentationFormat>
  <Paragraphs>71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Wingdings 3</vt:lpstr>
      <vt:lpstr>Outfit ExtraBold</vt:lpstr>
      <vt:lpstr>Arimo</vt:lpstr>
      <vt:lpstr>Arimo Bold</vt:lpstr>
      <vt:lpstr>Century Gothic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Kurumurthi T</cp:lastModifiedBy>
  <cp:revision>2</cp:revision>
  <dcterms:created xsi:type="dcterms:W3CDTF">2026-07-15T09:35:58Z</dcterms:created>
  <dcterms:modified xsi:type="dcterms:W3CDTF">2026-07-15T09:41:23Z</dcterms:modified>
</cp:coreProperties>
</file>